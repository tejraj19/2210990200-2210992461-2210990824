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3"/>
  </p:notesMasterIdLst>
  <p:handoutMasterIdLst>
    <p:handoutMasterId r:id="rId14"/>
  </p:handoutMasterIdLst>
  <p:sldIdLst>
    <p:sldId id="256" r:id="rId5"/>
    <p:sldId id="257" r:id="rId6"/>
    <p:sldId id="269" r:id="rId7"/>
    <p:sldId id="270" r:id="rId8"/>
    <p:sldId id="271" r:id="rId9"/>
    <p:sldId id="272" r:id="rId10"/>
    <p:sldId id="273" r:id="rId11"/>
    <p:sldId id="268" r:id="rId12"/>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4/28/2026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4/28/2026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5</a:t>
            </a:fld>
            <a:endParaRPr lang="en-US"/>
          </a:p>
        </p:txBody>
      </p:sp>
    </p:spTree>
    <p:extLst>
      <p:ext uri="{BB962C8B-B14F-4D97-AF65-F5344CB8AC3E}">
        <p14:creationId xmlns:p14="http://schemas.microsoft.com/office/powerpoint/2010/main" val="3103037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11C67-5CDA-11C8-CBBF-A03E68E1A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347DBC-712C-E17E-1A73-799FBC3F7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0672F9-50F2-BB42-417B-905BDD29E018}"/>
              </a:ext>
            </a:extLst>
          </p:cNvPr>
          <p:cNvSpPr>
            <a:spLocks noGrp="1"/>
          </p:cNvSpPr>
          <p:nvPr>
            <p:ph type="body" idx="1"/>
          </p:nvPr>
        </p:nvSpPr>
        <p:spPr/>
        <p:txBody>
          <a:bodyPr/>
          <a:lstStyle/>
          <a:p>
            <a:endParaRPr lang="en-IN" dirty="0"/>
          </a:p>
        </p:txBody>
      </p:sp>
      <p:sp>
        <p:nvSpPr>
          <p:cNvPr id="4" name="Footer Placeholder 3">
            <a:extLst>
              <a:ext uri="{FF2B5EF4-FFF2-40B4-BE49-F238E27FC236}">
                <a16:creationId xmlns:a16="http://schemas.microsoft.com/office/drawing/2014/main" id="{75FD7E99-75F0-C968-8388-ECEB0A4B99D1}"/>
              </a:ext>
            </a:extLst>
          </p:cNvPr>
          <p:cNvSpPr>
            <a:spLocks noGrp="1"/>
          </p:cNvSpPr>
          <p:nvPr>
            <p:ph type="ftr" sz="quarter" idx="4"/>
          </p:nvPr>
        </p:nvSpPr>
        <p:spPr/>
        <p:txBody>
          <a:bodyPr/>
          <a:lstStyle/>
          <a:p>
            <a:r>
              <a:rPr lang="en-US"/>
              <a:t>Name of the faculty [Group: G00] [Sem:2nd]</a:t>
            </a:r>
          </a:p>
        </p:txBody>
      </p:sp>
      <p:sp>
        <p:nvSpPr>
          <p:cNvPr id="5" name="Slide Number Placeholder 4">
            <a:extLst>
              <a:ext uri="{FF2B5EF4-FFF2-40B4-BE49-F238E27FC236}">
                <a16:creationId xmlns:a16="http://schemas.microsoft.com/office/drawing/2014/main" id="{6ED6EBF8-05DA-9E05-1CCB-2A072AD6E9AC}"/>
              </a:ext>
            </a:extLst>
          </p:cNvPr>
          <p:cNvSpPr>
            <a:spLocks noGrp="1"/>
          </p:cNvSpPr>
          <p:nvPr>
            <p:ph type="sldNum" sz="quarter" idx="5"/>
          </p:nvPr>
        </p:nvSpPr>
        <p:spPr/>
        <p:txBody>
          <a:bodyPr/>
          <a:lstStyle/>
          <a:p>
            <a:fld id="{C5A7523A-12D4-4E0F-9409-B3F845B48333}" type="slidenum">
              <a:rPr lang="en-US" smtClean="0"/>
              <a:pPr/>
              <a:t>6</a:t>
            </a:fld>
            <a:endParaRPr lang="en-US"/>
          </a:p>
        </p:txBody>
      </p:sp>
    </p:spTree>
    <p:extLst>
      <p:ext uri="{BB962C8B-B14F-4D97-AF65-F5344CB8AC3E}">
        <p14:creationId xmlns:p14="http://schemas.microsoft.com/office/powerpoint/2010/main" val="770229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D59C2-2F5E-6596-61F7-0452DF094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08475-F4F6-C8F5-986D-48790BF20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ABAB06-B483-6B86-66E3-A69DD72DEAE5}"/>
              </a:ext>
            </a:extLst>
          </p:cNvPr>
          <p:cNvSpPr>
            <a:spLocks noGrp="1"/>
          </p:cNvSpPr>
          <p:nvPr>
            <p:ph type="body" idx="1"/>
          </p:nvPr>
        </p:nvSpPr>
        <p:spPr/>
        <p:txBody>
          <a:bodyPr/>
          <a:lstStyle/>
          <a:p>
            <a:endParaRPr lang="en-IN" dirty="0"/>
          </a:p>
        </p:txBody>
      </p:sp>
      <p:sp>
        <p:nvSpPr>
          <p:cNvPr id="4" name="Footer Placeholder 3">
            <a:extLst>
              <a:ext uri="{FF2B5EF4-FFF2-40B4-BE49-F238E27FC236}">
                <a16:creationId xmlns:a16="http://schemas.microsoft.com/office/drawing/2014/main" id="{2E7A1F40-E3C3-12D9-D4C0-73C37DF0296A}"/>
              </a:ext>
            </a:extLst>
          </p:cNvPr>
          <p:cNvSpPr>
            <a:spLocks noGrp="1"/>
          </p:cNvSpPr>
          <p:nvPr>
            <p:ph type="ftr" sz="quarter" idx="4"/>
          </p:nvPr>
        </p:nvSpPr>
        <p:spPr/>
        <p:txBody>
          <a:bodyPr/>
          <a:lstStyle/>
          <a:p>
            <a:r>
              <a:rPr lang="en-US"/>
              <a:t>Name of the faculty [Group: G00] [Sem:2nd]</a:t>
            </a:r>
          </a:p>
        </p:txBody>
      </p:sp>
      <p:sp>
        <p:nvSpPr>
          <p:cNvPr id="5" name="Slide Number Placeholder 4">
            <a:extLst>
              <a:ext uri="{FF2B5EF4-FFF2-40B4-BE49-F238E27FC236}">
                <a16:creationId xmlns:a16="http://schemas.microsoft.com/office/drawing/2014/main" id="{60236644-9ADE-366A-A931-34D2176A410C}"/>
              </a:ext>
            </a:extLst>
          </p:cNvPr>
          <p:cNvSpPr>
            <a:spLocks noGrp="1"/>
          </p:cNvSpPr>
          <p:nvPr>
            <p:ph type="sldNum" sz="quarter" idx="5"/>
          </p:nvPr>
        </p:nvSpPr>
        <p:spPr/>
        <p:txBody>
          <a:bodyPr/>
          <a:lstStyle/>
          <a:p>
            <a:fld id="{C5A7523A-12D4-4E0F-9409-B3F845B48333}" type="slidenum">
              <a:rPr lang="en-US" smtClean="0"/>
              <a:pPr/>
              <a:t>7</a:t>
            </a:fld>
            <a:endParaRPr lang="en-US"/>
          </a:p>
        </p:txBody>
      </p:sp>
    </p:spTree>
    <p:extLst>
      <p:ext uri="{BB962C8B-B14F-4D97-AF65-F5344CB8AC3E}">
        <p14:creationId xmlns:p14="http://schemas.microsoft.com/office/powerpoint/2010/main" val="1719792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904298"/>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b="1" dirty="0"/>
              <a:t>Quantitative Trading Strategy for NIFTY 50 Using EMA Crossover and Machine Learning</a:t>
            </a:r>
            <a:endParaRPr lang="en-US" b="1"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Tej Raj</a:t>
            </a:r>
            <a:r>
              <a:rPr lang="en-US" sz="2000" spc="-1" dirty="0">
                <a:solidFill>
                  <a:srgbClr val="000000"/>
                </a:solidFill>
                <a:latin typeface="Times New Roman" panose="02020603050405020304" pitchFamily="18" charset="0"/>
                <a:ea typeface="MS PGothic"/>
                <a:cs typeface="Times New Roman" panose="02020603050405020304" pitchFamily="18" charset="0"/>
              </a:rPr>
              <a:t>(2210992461)</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Shivam Laul(2210990824)</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Avinash Kumar Jha(2210990200)</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Shikha Tuteja</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139700">
              <a:buClr>
                <a:srgbClr val="000000"/>
              </a:buClr>
              <a:buSzPts val="1400"/>
            </a:pPr>
            <a:r>
              <a:rPr lang="en-US" sz="2000" dirty="0">
                <a:latin typeface="Times New Roman" panose="02020603050405020304" pitchFamily="18" charset="0"/>
                <a:cs typeface="Times New Roman" panose="02020603050405020304" pitchFamily="18" charset="0"/>
              </a:rPr>
              <a:t>In recent years, financial markets have seen a major shift towards algorithmic and quantitative trading, where decisions are made using data and mathematical models instead of human intuition. Traditional methods like EMA crossover are commonly used to identify trends and trading opportunities, but they often fail in certain market conditions, especially in sideways markets where they generate false signals. With advancements in machine learning and statistical models, it is now possible to build more intelligent systems that can adapt to changing market conditions. In this project, we combine traditional trading strategies with techniques like Hidden Markov Models and machine learning to create a more reliable and adaptive trading system for the NIFTY 50 index.</a:t>
            </a:r>
          </a:p>
          <a:p>
            <a:pPr marL="139700" lvl="0">
              <a:buClr>
                <a:srgbClr val="000000"/>
              </a:buClr>
              <a:buSzPts val="1400"/>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CAD35-1B27-DD76-FA17-5EB6C32A06D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670C39C3-2F0B-6681-2844-88199A9C664C}"/>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Problem Statement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98F69C4B-19D1-0D73-4EDC-3DB7E9F92C9E}"/>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383996A5-7AA2-1016-713A-AAD7B0E8C020}"/>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r>
              <a:rPr lang="en-US" dirty="0">
                <a:latin typeface="Times New Roman" panose="02020603050405020304" pitchFamily="18" charset="0"/>
                <a:cs typeface="Times New Roman" panose="02020603050405020304" pitchFamily="18" charset="0"/>
              </a:rPr>
              <a:t>Traditional trading strategies like EMA crossover are simple and widely used, but they do not perform well in all market conditions. In sideways or range-bound markets, they tend to generate a large number of false signals, which can result in frequent losses and reduced confidence for traders. These strategies also treat every signal equally and do not consider whether the market is trending upward, downward, or simply moving sideways. Because of this, traders often enter trades at the wrong time and miss better opportunities. In addition, most basic approaches focus mainly on entry signals and do not pay enough attention to factors like market behavior, volatility, and proper trade management. There is a need for a more intelligent and adaptive system that can identify different market conditions, reduce unnecessary trades, and improve overall trading performance. By combining traditional strategies with machine learning and market regime detection, it becomes possible to make better trading decisions and achieve more consistent profitability.</a:t>
            </a:r>
          </a:p>
          <a:p>
            <a:pPr marL="139700" lvl="0">
              <a:buClr>
                <a:srgbClr val="000000"/>
              </a:buClr>
              <a:buSzPts val="1400"/>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39599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D5A99-EFF5-C52E-ADAD-C962858834D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38F035C-CE72-4E16-11EB-91ED61C089D7}"/>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Objective</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CC3C7C3-1723-0896-EF36-DC81367DD18A}"/>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4E3CA2B5-5B77-9513-7D6F-930F64385C5A}"/>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r>
              <a:rPr lang="en-US" dirty="0">
                <a:latin typeface="Times New Roman" panose="02020603050405020304" pitchFamily="18" charset="0"/>
                <a:cs typeface="Times New Roman" panose="02020603050405020304" pitchFamily="18" charset="0"/>
              </a:rPr>
              <a:t>The main objective of this project is to design a smarter and more reliable trading system that improves the performance of traditional strategies like EMA crossover. Instead of depending only on basic signals, the goal is to make the system more adaptive by identifying different market conditions such as uptrend, downtrend, and sideways movement using techniques like Hidden Markov Models. Another important objective is to integrate machine learning models like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LSTM to predict whether a trade is likely to be profitable, so that poor-quality trades can be filtered out. The project also aims to use multiple features such as technical indicators, volatility measures, and options data to make better-informed decisions. In addition, it focuses on understanding which trades generate the highest profits and analyzing factors like volatility and momentum that influence them. Overall, the objective is to reduce false signals, avoid unnecessary trades, improve accuracy, and achieve more consistent and higher profitability in dynamic market conditions.</a:t>
            </a:r>
            <a:endParaRPr lang="en-IN" dirty="0">
              <a:latin typeface="Times New Roman" panose="02020603050405020304" pitchFamily="18" charset="0"/>
              <a:cs typeface="Times New Roman" panose="02020603050405020304" pitchFamily="18" charset="0"/>
            </a:endParaRPr>
          </a:p>
          <a:p>
            <a:pPr marL="139700" lvl="0">
              <a:buClr>
                <a:srgbClr val="000000"/>
              </a:buClr>
              <a:buSzPts val="1400"/>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804675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D2D1C-E18D-AC87-5856-C2AD6F161B7C}"/>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AC62CC16-9291-C8A7-75F3-1D7AB8332A28}"/>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Result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3CF2BA4-36F9-8AF6-A9D5-11C0B530A6EA}"/>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26947F8B-53AE-0CF2-EF41-BD8E25D8AFCC}"/>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r>
              <a:rPr lang="en-US" dirty="0">
                <a:latin typeface="Times New Roman" panose="02020603050405020304" pitchFamily="18" charset="0"/>
                <a:cs typeface="Times New Roman" panose="02020603050405020304" pitchFamily="18" charset="0"/>
              </a:rPr>
              <a:t>The results of this project show that the proposed trading system performs effectively in different market conditions. The strategy achieved a high profit factor of around 3.40 and maintained a very low maximum drawdown of about 0.81%, indicating strong risk management. It was also observed that the model performed better on testing data than training data, which suggests good generalization and less overfitting. Most of the profits were generated by a small number of trades, where only about 1.65% of trades contributed nearly 27% of total profits. These high-profit trades were mainly influenced by strong market trends and high volatility rather than just entry signals. Additionally,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showed better performance compared to LSTM, as the dataset was relatively small for deep learning models. Overall, the system successfully reduced false signals, improved trade quality, and provided consistent profitability.</a:t>
            </a:r>
            <a:endParaRPr lang="en-IN" b="1" dirty="0">
              <a:latin typeface="Times New Roman" panose="02020603050405020304" pitchFamily="18" charset="0"/>
              <a:cs typeface="Times New Roman" panose="02020603050405020304" pitchFamily="18" charset="0"/>
            </a:endParaRPr>
          </a:p>
          <a:p>
            <a:pPr marL="139700" lvl="0">
              <a:buClr>
                <a:srgbClr val="000000"/>
              </a:buClr>
              <a:buSzPts val="1400"/>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3906854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E18AF-C4BB-B5A9-9125-E4762734C50A}"/>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94CB61DC-3575-8347-7E9F-87E0FC5D6EFE}"/>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Conclusion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F52548DE-19AD-F642-8AEE-340C73758AB6}"/>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8CBB0E3F-5BF4-2BA7-D8B9-80BA9F8E48AD}"/>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r>
              <a:rPr lang="en-US" dirty="0">
                <a:latin typeface="Times New Roman" panose="02020603050405020304" pitchFamily="18" charset="0"/>
                <a:cs typeface="Times New Roman" panose="02020603050405020304" pitchFamily="18" charset="0"/>
              </a:rPr>
              <a:t>In this project, we developed a smarter trading system that combines EMA crossover, market regime detection, and machine learning techniques. The results show that using a regime-based approach helps reduce false signals, especially in sideways markets. We also found that not all trades contribute equally—only a small number of high-quality trades generate most of the profits. This highlights the importance of trade management and market conditions rather than just entry signals. Among the models used,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performed better than LSTM due to the limited dataset size. Overall, the proposed system improves decision-making, filters better trades, and achieves more consistent and reliable profitability compared to traditional methods.</a:t>
            </a: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2771747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2E0C3-ABE7-F0B5-E6FC-567595C6A662}"/>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780FB157-AEFF-F100-D57F-14D018FC191C}"/>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References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6CF6F093-29A4-09C4-8C56-CBD3C6BF663F}"/>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a:extLst>
              <a:ext uri="{FF2B5EF4-FFF2-40B4-BE49-F238E27FC236}">
                <a16:creationId xmlns:a16="http://schemas.microsoft.com/office/drawing/2014/main" id="{04E1C072-A1C9-38DE-44CE-BD2F889D7BA6}"/>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E. Chan, </a:t>
            </a:r>
            <a:r>
              <a:rPr lang="en-US" altLang="en-US" i="1" dirty="0">
                <a:latin typeface="Times New Roman" panose="02020603050405020304" pitchFamily="18" charset="0"/>
                <a:cs typeface="Times New Roman" panose="02020603050405020304" pitchFamily="18" charset="0"/>
              </a:rPr>
              <a:t>Quantitative Trading</a:t>
            </a:r>
            <a:r>
              <a:rPr lang="en-US" altLang="en-US" dirty="0">
                <a:latin typeface="Times New Roman" panose="02020603050405020304" pitchFamily="18" charset="0"/>
                <a:cs typeface="Times New Roman" panose="02020603050405020304" pitchFamily="18" charset="0"/>
              </a:rPr>
              <a:t>, Wiley, 2021 </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J. J. Murphy, </a:t>
            </a:r>
            <a:r>
              <a:rPr lang="en-US" altLang="en-US" i="1" dirty="0">
                <a:latin typeface="Times New Roman" panose="02020603050405020304" pitchFamily="18" charset="0"/>
                <a:cs typeface="Times New Roman" panose="02020603050405020304" pitchFamily="18" charset="0"/>
              </a:rPr>
              <a:t>Technical Analysis of Financial Markets</a:t>
            </a:r>
            <a:r>
              <a:rPr lang="en-US" altLang="en-US" dirty="0">
                <a:latin typeface="Times New Roman" panose="02020603050405020304" pitchFamily="18" charset="0"/>
                <a:cs typeface="Times New Roman" panose="02020603050405020304" pitchFamily="18" charset="0"/>
              </a:rPr>
              <a:t>, 1999 </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L. R. Rabiner, “Hidden Markov Models,” IEEE, 1989 </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T. Chen &amp; C. </a:t>
            </a:r>
            <a:r>
              <a:rPr lang="en-US" altLang="en-US" dirty="0" err="1">
                <a:latin typeface="Times New Roman" panose="02020603050405020304" pitchFamily="18" charset="0"/>
                <a:cs typeface="Times New Roman" panose="02020603050405020304" pitchFamily="18" charset="0"/>
              </a:rPr>
              <a:t>Guestrin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XGBoost</a:t>
            </a:r>
            <a:r>
              <a:rPr lang="en-US" altLang="en-US" dirty="0">
                <a:latin typeface="Times New Roman" panose="02020603050405020304" pitchFamily="18" charset="0"/>
                <a:cs typeface="Times New Roman" panose="02020603050405020304" pitchFamily="18" charset="0"/>
              </a:rPr>
              <a:t>,” ACM SIGKDD, 2016 </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S. Hochreiter &amp; J. </a:t>
            </a:r>
            <a:r>
              <a:rPr lang="en-US" altLang="en-US" dirty="0" err="1">
                <a:latin typeface="Times New Roman" panose="02020603050405020304" pitchFamily="18" charset="0"/>
                <a:cs typeface="Times New Roman" panose="02020603050405020304" pitchFamily="18" charset="0"/>
              </a:rPr>
              <a:t>Schmidhuber</a:t>
            </a:r>
            <a:r>
              <a:rPr lang="en-US" altLang="en-US" dirty="0">
                <a:latin typeface="Times New Roman" panose="02020603050405020304" pitchFamily="18" charset="0"/>
                <a:cs typeface="Times New Roman" panose="02020603050405020304" pitchFamily="18" charset="0"/>
              </a:rPr>
              <a:t>, “LSTM,” 1997 </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F. Black &amp; M. Scholes, “Options Pricing Model,” 1973 </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R. Shwartz-Ziv &amp; A. Armon, “Tabular Data vs Deep Learning,” 2022 </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A. Fama, “Efficient Market Hypothesis,” 1970 </a:t>
            </a: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3987067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34711</TotalTime>
  <Words>991</Words>
  <Application>Microsoft Office PowerPoint</Application>
  <PresentationFormat>On-screen Show (4:3)</PresentationFormat>
  <Paragraphs>106</Paragraphs>
  <Slides>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Avinash Kumar Jha</cp:lastModifiedBy>
  <cp:revision>2299</cp:revision>
  <dcterms:created xsi:type="dcterms:W3CDTF">2010-04-09T07:36:15Z</dcterms:created>
  <dcterms:modified xsi:type="dcterms:W3CDTF">2026-04-28T09:08:08Z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